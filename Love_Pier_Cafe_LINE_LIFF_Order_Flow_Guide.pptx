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CBBCA8">
                <a:alpha val="6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D7C1"/>
                </a:solidFill>
              </a:rPr>
              <a:t>Love Pier Cafe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" y="1700784"/>
            <a:ext cx="6263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LINE OA + LIFF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Order Flow Guide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86384" y="34290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4D8C8"/>
                </a:solidFill>
              </a:rPr>
              <a:t>สรุประบบแบบอ่านง่าย สำหรับทีมที่ไม่ใช่สายเทคนิค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4D8C8"/>
                </a:solidFill>
              </a:rPr>
              <a:t>และใช้ต่อเป็น brief ให้คนพัฒนาระบบได้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06640" y="10972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 w="12700">
            <a:solidFill>
              <a:srgbClr val="FFF8F0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26680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382B"/>
                </a:solidFill>
              </a:rPr>
              <a:t>ภาพรวมที่ต้องได้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18120" y="1938528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2712" y="2066544"/>
            <a:ext cx="2368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B2825"/>
                </a:solidFill>
              </a:rPr>
              <a:t>1. กด Rich Menu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171432" y="2395728"/>
            <a:ext cx="0" cy="219456"/>
          </a:xfrm>
          <a:prstGeom prst="line">
            <a:avLst/>
          </a:prstGeom>
          <a:noFill/>
          <a:ln w="19050">
            <a:solidFill>
              <a:srgbClr val="D8C2A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2688336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2816352"/>
            <a:ext cx="2368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B2825"/>
                </a:solidFill>
              </a:rPr>
              <a:t>2. เปิดเว็บผ่าน LIFF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171432" y="3145536"/>
            <a:ext cx="0" cy="219456"/>
          </a:xfrm>
          <a:prstGeom prst="line">
            <a:avLst/>
          </a:prstGeom>
          <a:noFill/>
          <a:ln w="19050">
            <a:solidFill>
              <a:srgbClr val="D8C2A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18120" y="3438144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3566160"/>
            <a:ext cx="2368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B2825"/>
                </a:solidFill>
              </a:rPr>
              <a:t>3. สั่งอาหาร + ส่งสลิป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171432" y="3895344"/>
            <a:ext cx="0" cy="219456"/>
          </a:xfrm>
          <a:prstGeom prst="line">
            <a:avLst/>
          </a:prstGeom>
          <a:noFill/>
          <a:ln w="19050">
            <a:solidFill>
              <a:srgbClr val="D8C2A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8120" y="4187952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E7F6E7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2712" y="4315968"/>
            <a:ext cx="2368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6382B"/>
                </a:solidFill>
              </a:rPr>
              <a:t>4. ออเดอร์เด้งในแชท OA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86384" y="5989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A993"/>
                </a:solidFill>
              </a:rPr>
              <a:t>Version: handoff / dev briefing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เป้าหมายธุรกิจ: ให้แชท OA กลายเป็นจุดรับออเดอร์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ไม่ใช่สร้างเว็บใหม่ แต่ต่อ flow เดิมให้จบใน LINE ได้จริง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1143000"/>
            <a:ext cx="12191695" cy="507492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2880360" cy="1280160"/>
          </a:xfrm>
          <a:prstGeom prst="roundRect">
            <a:avLst>
              <a:gd name="adj" fmla="val 8571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545336"/>
            <a:ext cx="255117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82B"/>
                </a:solidFill>
              </a:rPr>
              <a:t>ลูกค้าอยู่ใน LINE OA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382B"/>
                </a:solidFill>
              </a:rPr>
              <a:t>ของร้าน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45152" y="1417320"/>
            <a:ext cx="2880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9744" y="1545336"/>
            <a:ext cx="255117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825"/>
                </a:solidFill>
              </a:rPr>
              <a:t>กดสั่งอาหาร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B2825"/>
                </a:solidFill>
              </a:rPr>
              <a:t>บนเว็บเดิม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85632" y="1417320"/>
            <a:ext cx="2880360" cy="1280160"/>
          </a:xfrm>
          <a:prstGeom prst="roundRect">
            <a:avLst>
              <a:gd name="adj" fmla="val 8571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50224" y="1545336"/>
            <a:ext cx="255117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3920"/>
                </a:solidFill>
              </a:rPr>
              <a:t>ออเดอร์ขึ้นใน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5A3920"/>
                </a:solidFill>
              </a:rPr>
              <a:t>แชท OA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67328" y="2057400"/>
            <a:ext cx="713232" cy="0"/>
          </a:xfrm>
          <a:prstGeom prst="line">
            <a:avLst/>
          </a:prstGeom>
          <a:noFill/>
          <a:ln w="30480">
            <a:solidFill>
              <a:srgbClr val="5A392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62672" y="2057400"/>
            <a:ext cx="676656" cy="0"/>
          </a:xfrm>
          <a:prstGeom prst="line">
            <a:avLst/>
          </a:prstGeom>
          <a:noFill/>
          <a:ln w="30480">
            <a:solidFill>
              <a:srgbClr val="5A392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82B"/>
                </a:solidFill>
              </a:rPr>
              <a:t>สิ่งที่ทีมต้องเข้าใจ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3246120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78992" y="3986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2B"/>
                </a:solidFill>
              </a:rPr>
              <a:t>เว็บเดิมยังเป็นตัวหลัก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43616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756B62"/>
                </a:solidFill>
              </a:rPr>
              <a:t>หน้าเมนู ตะกร้า ชำระเงิน และอัปโหลดสลิปใช้ของเดิม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617720" y="3749040"/>
            <a:ext cx="3246120" cy="1243584"/>
          </a:xfrm>
          <a:prstGeom prst="roundRect">
            <a:avLst>
              <a:gd name="adj" fmla="val 8824"/>
            </a:avLst>
          </a:prstGeom>
          <a:solidFill>
            <a:srgbClr val="FDF8F1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73752" y="3986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920"/>
                </a:solidFill>
              </a:rPr>
              <a:t>LINE OA เป็นช่องทางคุย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73752" y="43616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756B62"/>
                </a:solidFill>
              </a:rPr>
              <a:t>ร้านเห็นรายการในแชทและตอบลูกค้าต่อได้ทันที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412480" y="3749040"/>
            <a:ext cx="3246120" cy="1243584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68512" y="3986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2B"/>
                </a:solidFill>
              </a:rPr>
              <a:t>LIFF เป็นสะพาน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68512" y="436168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756B62"/>
                </a:solidFill>
              </a:rPr>
              <a:t>เปิดเว็บใน LINE และอนุญาตให้เว็บส่งข้อความเข้าแชท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สรุปจาก requirement โปรเจกต์ Love Pier Cafe และภาพทดสอบหน้า /delivery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ระบบที่มีอยู่แล้ว: ไม่ใช่แค่ Landing 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Love Pier มีระบบเมนู เดลิเวอรี ออเดอร์ หลังบ้าน และ LINE integration เดิมอยู่แล้ว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pic>
        <p:nvPicPr>
          <p:cNvPr id="5" name="Image 0" descr="/mnt/data/image(31).png">    </p:cNvPr>
          <p:cNvPicPr>
            <a:picLocks noChangeAspect="1"/>
          </p:cNvPicPr>
          <p:nvPr/>
        </p:nvPicPr>
        <p:blipFill>
          <a:blip r:embed="rId1"/>
          <a:srcRect l="15065" r="15065" t="0" b="0"/>
          <a:stretch/>
        </p:blipFill>
        <p:spPr>
          <a:xfrm>
            <a:off x="685800" y="1280160"/>
            <a:ext cx="45720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1298448"/>
            <a:ext cx="5760720" cy="4462272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B9A89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82B"/>
                </a:solidFill>
              </a:rPr>
              <a:t>จากภาพ Network เห็น flow สำคัญ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053328" y="2212848"/>
            <a:ext cx="228600" cy="22860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1396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2B2825"/>
                </a:solidFill>
              </a:rPr>
              <a:t>verify access token — ตรวจ LINE session / token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053328" y="2907792"/>
            <a:ext cx="228600" cy="22860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28346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825"/>
                </a:solidFill>
              </a:rPr>
              <a:t>profile — ดึงข้อมูลโปรไฟล์ LINE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6053328" y="3602736"/>
            <a:ext cx="228600" cy="22860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35295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825"/>
                </a:solidFill>
              </a:rPr>
              <a:t>customer?lineUserId — หา/เติมข้อมูลลูกค้าเดิม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6053328" y="4297680"/>
            <a:ext cx="228600" cy="228600"/>
          </a:xfrm>
          <a:prstGeom prst="ellipse">
            <a:avLst/>
          </a:prstGeom>
          <a:solidFill>
            <a:srgbClr val="C778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2245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825"/>
                </a:solidFill>
              </a:rPr>
              <a:t>delivery-distance — ระบบระยะส่งเดิมทำงานอยู่</a:t>
            </a:r>
            <a:endParaRPr lang="en-US" sz="1280" dirty="0"/>
          </a:p>
        </p:txBody>
      </p:sp>
      <p:sp>
        <p:nvSpPr>
          <p:cNvPr id="16" name="Shape 13"/>
          <p:cNvSpPr/>
          <p:nvPr/>
        </p:nvSpPr>
        <p:spPr>
          <a:xfrm>
            <a:off x="5989320" y="5074920"/>
            <a:ext cx="4983480" cy="18288"/>
          </a:xfrm>
          <a:prstGeom prst="rect">
            <a:avLst/>
          </a:prstGeom>
          <a:solidFill>
            <a:srgbClr val="E4D8C8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52578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5A3920"/>
                </a:solidFill>
              </a:rPr>
              <a:t>สรุป: LIFF/LINE profile ดูเหมือนทำงานอยู่แล้ว งานนี้จึงไม่ควรรื้อ flow เดิม แต่เสียบ sendMessages หลัง Order success จุดเดียว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ภาพอ้างอิง: screenshot จากการทดสอบ https://www.lovepier.cafe/delivery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ศัพท์ LINE ที่ต้องรู้แบบไม่ต้องเขียนโค้ด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แยกหน้าที่ของแต่ละส่วนก่อนลงมือพัฒนา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3832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36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825"/>
                </a:solidFill>
              </a:rPr>
              <a:t>LINE OA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0756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บัญชีร้านใน LINE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ลูกค้าทัก/ร้านตอบในแชท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636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825"/>
                </a:solidFill>
              </a:rPr>
              <a:t>Rich Menu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0756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เมนูปุ่มใหญ่ใต้แชท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ใช้พาลูกค้าไปหน้าเว็บ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8275320" y="1417320"/>
            <a:ext cx="3383280" cy="1444752"/>
          </a:xfrm>
          <a:prstGeom prst="roundRect">
            <a:avLst>
              <a:gd name="adj" fmla="val 7595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636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82B"/>
                </a:solidFill>
              </a:rPr>
              <a:t>LIFF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03920" y="20756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เว็บที่เปิดอยู่ใน LINE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เชื่อมแชทกับเว็บได้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3383280" cy="1444752"/>
          </a:xfrm>
          <a:prstGeom prst="roundRect">
            <a:avLst>
              <a:gd name="adj" fmla="val 7595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014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3920"/>
                </a:solidFill>
              </a:rPr>
              <a:t>liff.sendMessages()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4453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คำสั่งให้เว็บส่งข้อความ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เข้าแชทในนามลูกค้า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4389120" y="3794760"/>
            <a:ext cx="338328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014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825"/>
                </a:solidFill>
              </a:rPr>
              <a:t>Messaging API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617720" y="4453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ฝั่ง server ส่งข้อความ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756B62"/>
                </a:solidFill>
              </a:rPr>
              <a:t>จาก OA ไปหาคน/กลุ่ม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425196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82B"/>
                </a:solidFill>
              </a:rPr>
              <a:t>จำง่าย: LIFF = เว็บใน LINE, sendMessages = ให้เว็บส่งออเดอร์กลับเข้าแชท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อ้างอิง: LINE Developers — LIFF overview, LIFF API reference, Messaging API docs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จุดที่สับสนบ่อย: LIFF ไม่ใช่แค่ปุ่ม Login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ระบบเดิมอาจใช้ LIFF เพื่อ login แล้ว แต่ requirement นี้ต้องใช้ LIFF เป็นทางเข้าจาก Rich Menu ด้วย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56B62"/>
                </a:solidFill>
              </a:rPr>
              <a:t>แบบที่มีอยู่แล้วได้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280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82B"/>
                </a:solidFill>
              </a:rPr>
              <a:t>แบบที่ต้องการสำหรับออเดอร์เด้งเข้าแชท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4805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78308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61872" y="2121408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8F5F1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2249424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756B62"/>
                </a:solidFill>
              </a:rPr>
              <a:t>เปิดเว็บตรง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2971800" y="2532888"/>
            <a:ext cx="0" cy="173736"/>
          </a:xfrm>
          <a:prstGeom prst="line">
            <a:avLst/>
          </a:prstGeom>
          <a:noFill/>
          <a:ln w="15240">
            <a:solidFill>
              <a:srgbClr val="CBBCA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61872" y="2834640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8F5F1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2962656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756B62"/>
                </a:solidFill>
              </a:rPr>
              <a:t>กด Login LINE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2971800" y="3246120"/>
            <a:ext cx="0" cy="173736"/>
          </a:xfrm>
          <a:prstGeom prst="line">
            <a:avLst/>
          </a:prstGeom>
          <a:noFill/>
          <a:ln w="15240">
            <a:solidFill>
              <a:srgbClr val="CBBCA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61872" y="3547872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8F5F1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6464" y="3675888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756B62"/>
                </a:solidFill>
              </a:rPr>
              <a:t>ดึงชื่อ/เบอร์ลูกค้า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2971800" y="3959352"/>
            <a:ext cx="0" cy="173736"/>
          </a:xfrm>
          <a:prstGeom prst="line">
            <a:avLst/>
          </a:prstGeom>
          <a:noFill/>
          <a:ln w="15240">
            <a:solidFill>
              <a:srgbClr val="CBBC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261872" y="4261104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8F5F1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6464" y="4389120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756B62"/>
                </a:solidFill>
              </a:rPr>
              <a:t>สั่งอาหารต่อได้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967728" y="2121408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6FFF4"/>
          </a:solidFill>
          <a:ln w="12700">
            <a:solidFill>
              <a:srgbClr val="CDE8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249424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B2825"/>
                </a:solidFill>
              </a:rPr>
              <a:t>กด Rich Menu ใน OA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686800" y="2532888"/>
            <a:ext cx="0" cy="173736"/>
          </a:xfrm>
          <a:prstGeom prst="line">
            <a:avLst/>
          </a:prstGeom>
          <a:noFill/>
          <a:ln w="15240">
            <a:solidFill>
              <a:srgbClr val="06C7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67728" y="2834640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6FFF4"/>
          </a:solidFill>
          <a:ln w="12700">
            <a:solidFill>
              <a:srgbClr val="CDE8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962656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B2825"/>
                </a:solidFill>
              </a:rPr>
              <a:t>เปิด LIFF URL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686800" y="3246120"/>
            <a:ext cx="0" cy="173736"/>
          </a:xfrm>
          <a:prstGeom prst="line">
            <a:avLst/>
          </a:prstGeom>
          <a:noFill/>
          <a:ln w="15240">
            <a:solidFill>
              <a:srgbClr val="06C75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67728" y="3547872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6FFF4"/>
          </a:solidFill>
          <a:ln w="12700">
            <a:solidFill>
              <a:srgbClr val="CDE8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675888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2B2825"/>
                </a:solidFill>
              </a:rPr>
              <a:t>เว็บทำงานใน LINE context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8686800" y="3959352"/>
            <a:ext cx="0" cy="173736"/>
          </a:xfrm>
          <a:prstGeom prst="line">
            <a:avLst/>
          </a:prstGeom>
          <a:noFill/>
          <a:ln w="15240">
            <a:solidFill>
              <a:srgbClr val="06C7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967728" y="4261104"/>
            <a:ext cx="34290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389120"/>
            <a:ext cx="309981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6382B"/>
                </a:solidFill>
              </a:rPr>
              <a:t>Order success → sendMessages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914400" y="58064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A3920"/>
                </a:solidFill>
              </a:rPr>
              <a:t>ข้อสรุปสำหรับทีม: อย่าแก้ login flow ถ้าไม่จำเป็น ให้ทำให้หน้า ordering ที่เปิดจาก Rich Menu มี LIFF context พร้อมใช้จนถึง Order success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อ้างอิง: LINE Developers — Opening a LIFF app, LIFF overview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 ที่ต้องเกิดขึ้นจริง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จากลูกค้ากดสั่งจนร้านเห็นออเดอร์ใน OA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2048256"/>
            <a:ext cx="1188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B2825"/>
                </a:solidFill>
              </a:rPr>
              <a:t>ลูกค้ากด Rich Menu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060704" y="1490472"/>
            <a:ext cx="402336" cy="274320"/>
          </a:xfrm>
          <a:prstGeom prst="rect">
            <a:avLst/>
          </a:prstGeom>
          <a:solidFill>
            <a:srgbClr val="2638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75688" y="2423160"/>
            <a:ext cx="256032" cy="0"/>
          </a:xfrm>
          <a:prstGeom prst="line">
            <a:avLst/>
          </a:prstGeom>
          <a:noFill/>
          <a:ln w="25400">
            <a:solidFill>
              <a:srgbClr val="D8C2A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920240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2048256"/>
            <a:ext cx="1188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B2825"/>
                </a:solidFill>
              </a:rPr>
              <a:t>เปิดเว็บผ่าน LIFF URL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980944" y="1490472"/>
            <a:ext cx="402336" cy="274320"/>
          </a:xfrm>
          <a:prstGeom prst="rect">
            <a:avLst/>
          </a:prstGeom>
          <a:solidFill>
            <a:srgbClr val="2638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95928" y="2423160"/>
            <a:ext cx="256032" cy="0"/>
          </a:xfrm>
          <a:prstGeom prst="line">
            <a:avLst/>
          </a:prstGeom>
          <a:noFill/>
          <a:ln w="25400">
            <a:solidFill>
              <a:srgbClr val="D8C2A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1920240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7992" y="2048256"/>
            <a:ext cx="1188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B2825"/>
                </a:solidFill>
              </a:rPr>
              <a:t>เลือกเมนู / Cart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901184" y="1490472"/>
            <a:ext cx="402336" cy="274320"/>
          </a:xfrm>
          <a:prstGeom prst="rect">
            <a:avLst/>
          </a:prstGeom>
          <a:solidFill>
            <a:srgbClr val="2638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16168" y="2423160"/>
            <a:ext cx="256032" cy="0"/>
          </a:xfrm>
          <a:prstGeom prst="line">
            <a:avLst/>
          </a:prstGeom>
          <a:noFill/>
          <a:ln w="25400">
            <a:solidFill>
              <a:srgbClr val="D8C2A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1920240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048256"/>
            <a:ext cx="1188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B2825"/>
                </a:solidFill>
              </a:rPr>
              <a:t>ชำระเงิน + ส่งสลิป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821424" y="1490472"/>
            <a:ext cx="402336" cy="274320"/>
          </a:xfrm>
          <a:prstGeom prst="rect">
            <a:avLst/>
          </a:prstGeom>
          <a:solidFill>
            <a:srgbClr val="2638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36408" y="2423160"/>
            <a:ext cx="256032" cy="0"/>
          </a:xfrm>
          <a:prstGeom prst="line">
            <a:avLst/>
          </a:prstGeom>
          <a:noFill/>
          <a:ln w="25400">
            <a:solidFill>
              <a:srgbClr val="06C7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83880" y="1920240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8472" y="2048256"/>
            <a:ext cx="1188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382B"/>
                </a:solidFill>
              </a:rPr>
              <a:t>ระบบสร้าง Order สำเร็จ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741664" y="1490472"/>
            <a:ext cx="402336" cy="274320"/>
          </a:xfrm>
          <a:prstGeom prst="rect">
            <a:avLst/>
          </a:prstGeom>
          <a:solidFill>
            <a:srgbClr val="06C7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756648" y="2423160"/>
            <a:ext cx="256032" cy="0"/>
          </a:xfrm>
          <a:prstGeom prst="line">
            <a:avLst/>
          </a:prstGeom>
          <a:noFill/>
          <a:ln w="25400">
            <a:solidFill>
              <a:srgbClr val="06C75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04120" y="1920240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68712" y="2048256"/>
            <a:ext cx="11887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5A3920"/>
                </a:solidFill>
              </a:rPr>
              <a:t>sendMessages เข้าแชท OA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10661904" y="1490472"/>
            <a:ext cx="402336" cy="274320"/>
          </a:xfrm>
          <a:prstGeom prst="rect">
            <a:avLst/>
          </a:prstGeom>
          <a:solidFill>
            <a:srgbClr val="C778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68680" y="3886200"/>
            <a:ext cx="1037844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B9A894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4300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82B"/>
                </a:solidFill>
              </a:rPr>
              <a:t>ข้อความที่ร้านควรเห็นในแชท OA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251960" y="4069080"/>
            <a:ext cx="63093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🛒 รายการสั่งอาหาร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Order #LP2607070001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ข้าวผัดกุ้ง ×1  •  น้ำมะพร้าว ×1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รวม 550 บาท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✅ ส่งหลักฐานการชำระเงินแล้ว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" y="544068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6B62"/>
                </a:solidFill>
              </a:rPr>
              <a:t>ข้อความนี้แสดงเป็นฝั่ง “ลูกค้า” ส่งเข้าห้องแชท OA ร้าน เพื่อให้ร้านตอบรับออเดอร์ต่อได้ทันที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อ้างอิง: LINE Developers — liff.sendMessages() ส่งข้อความในนามผู้ใช้ใน context ที่รองรับ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ขอบเขตงานรอบนี้: เสียบข้อความหลัง Order success เท่านั้น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เพื่อป้องกันไม่ให้กระทบระบบเดิมที่ทำงานอยู่แล้ว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60120" y="13533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5343"/>
                </a:solidFill>
              </a:rPr>
              <a:t>ห้ามแตะ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0" y="13533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82B"/>
                </a:solidFill>
              </a:rPr>
              <a:t>ต้องทำ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4480560" cy="3429000"/>
          </a:xfrm>
          <a:prstGeom prst="roundRect">
            <a:avLst>
              <a:gd name="adj" fmla="val 3200"/>
            </a:avLst>
          </a:prstGeom>
          <a:solidFill>
            <a:srgbClr val="FFF8F6"/>
          </a:solidFill>
          <a:ln w="12700">
            <a:solidFill>
              <a:srgbClr val="E4C5BD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2176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43"/>
                </a:solidFill>
              </a:rPr>
              <a:t>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2148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ระบบคิดระยะทางเดิม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170432" y="2679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43"/>
                </a:solidFill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26517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Delivery radius / Google Maps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170432" y="3182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43"/>
                </a:solidFill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3154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PromptPay / Slip flow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170432" y="3685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43"/>
                </a:solidFill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Admin / Order status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170432" y="4187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343"/>
                </a:solidFill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4160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โครงสร้างฐานข้อมูลถ้าไม่จำเป็น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537960" y="1828800"/>
            <a:ext cx="4480560" cy="3429000"/>
          </a:xfrm>
          <a:prstGeom prst="roundRect">
            <a:avLst>
              <a:gd name="adj" fmla="val 3200"/>
            </a:avLst>
          </a:prstGeom>
          <a:solidFill>
            <a:srgbClr val="F3FFF2"/>
          </a:solidFill>
          <a:ln w="12700">
            <a:solidFill>
              <a:srgbClr val="CDE8CB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2176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82B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148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ตรวจ LIFF init เดิม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903720" y="2679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82B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26517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เปิดจาก Rich Menu ด้วย LIFF URL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903720" y="3182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82B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3154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เช็ก chat_message.write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903720" y="3685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82B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หา Order success point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903720" y="4187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82B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160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เพิ่ม liff.sendMessages() จุดเดียว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1097280" y="55778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A3920"/>
                </a:solidFill>
              </a:rPr>
              <a:t>Key message: งานนี้คือ “ต่อ chat output” ไม่ใช่ “แก้ระบบเดลิเวอรี”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Library / API ที่เกี่ยวข้อง ใช้ทำอะไร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อธิบายเป็นภาษาคนทำงาน ไม่ลงรายละเอียดโค้ดลึก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10652760" cy="841248"/>
          </a:xfrm>
          <a:prstGeom prst="roundRect">
            <a:avLst>
              <a:gd name="adj" fmla="val 13043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490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82B"/>
                </a:solidFill>
              </a:rPr>
              <a:t>@line/liff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508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56B62"/>
                </a:solidFill>
              </a:rPr>
              <a:t>ใช้ในหน้าเว็บ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394960" y="14813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เปิด LIFF, อ่าน context, ดึง profile, ส่งข้อความด้วย sendMessages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777240" y="2468880"/>
            <a:ext cx="10652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633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825"/>
                </a:solidFill>
              </a:rPr>
              <a:t>LINE Developers Console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2651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56B62"/>
                </a:solidFill>
              </a:rPr>
              <a:t>ใช้ตั้งค่า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394960" y="26243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LIFF ID, Endpoint URL, Scope เช่น chat_message.write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10652760" cy="841248"/>
          </a:xfrm>
          <a:prstGeom prst="roundRect">
            <a:avLst>
              <a:gd name="adj" fmla="val 13043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776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920"/>
                </a:solidFill>
              </a:rPr>
              <a:t>LINE OA Rich Menu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56B62"/>
                </a:solidFill>
              </a:rPr>
              <a:t>ใช้พาลูกค้าเข้า flow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394960" y="37673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ปุ่ม “สั่งอาหาร” ต้องเปิด LIFF URL ไม่ใช่เว็บ URL ตรง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106527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919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825"/>
                </a:solidFill>
              </a:rPr>
              <a:t>Messaging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937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56B62"/>
                </a:solidFill>
              </a:rPr>
              <a:t>ใช้ฝั่ง Server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394960" y="49103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ระบบเดิมอาจส่งแจ้งเตือนไปหาร้าน/admin แยกจาก sendMessages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อ้างอิง: LINE Developers — LIFF overview/API reference, Messaging API, Opening a LIFF app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เงื่อนไขที่ทำให้ liff.sendMessages() ใช้งานได้จริง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ถ้าข้อใดข้อหนึ่งไม่ครบ ออเดอร์อาจสร้างได้ แต่ข้อความไม่เด้งในแชท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298448"/>
            <a:ext cx="470916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4813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2B"/>
                </a:solidFill>
              </a:rPr>
              <a:t>✓ เปิดผ่าน LIFF URL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52728" y="1801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56B62"/>
                </a:solidFill>
              </a:rPr>
              <a:t>เช่น https://liff.line.me/{LIFF_ID}/delivery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172200" y="1298448"/>
            <a:ext cx="470916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4813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2B"/>
                </a:solidFill>
              </a:rPr>
              <a:t>✓ อยู่ใน LINE context ที่รองรับ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01968" y="1801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56B62"/>
                </a:solidFill>
              </a:rPr>
              <a:t>ลูกค้าเข้าจาก Rich Menu ในแชท OA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22960" y="2715768"/>
            <a:ext cx="470916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8986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2B"/>
                </a:solidFill>
              </a:rPr>
              <a:t>✓ เปิด scope chat_message.write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52728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56B62"/>
                </a:solidFill>
              </a:rPr>
              <a:t>ต้องตั้งใน LINE Developers Console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72200" y="2715768"/>
            <a:ext cx="470916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8986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2B"/>
                </a:solidFill>
              </a:rPr>
              <a:t>✓ LIFF init สำเร็จก่อนเรียกใช้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01968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56B62"/>
                </a:solidFill>
              </a:rPr>
              <a:t>ต้องรอ liff.init() พร้อมก่อนส่งข้อความ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2960" y="4133088"/>
            <a:ext cx="4709160" cy="941832"/>
          </a:xfrm>
          <a:prstGeom prst="roundRect">
            <a:avLst>
              <a:gd name="adj" fmla="val 11650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31596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3920"/>
                </a:solidFill>
              </a:rPr>
              <a:t>✓ ส่งหลัง Order success เท่านั้น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52728" y="4636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56B62"/>
                </a:solidFill>
              </a:rPr>
              <a:t>ข้อความต้องอ้างอิงออเดอร์ที่บันทึกแล้วจริง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005840" y="56235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5343"/>
                </a:solidFill>
              </a:rPr>
              <a:t>สำคัญมาก: ถ้า Rich Menu เปิด https://www.lovepier.cafe/delivery ตรง ๆ อาจไม่มี chat capability เท่าการเปิดผ่าน LIFF URL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62453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8C7D"/>
                </a:solidFill>
              </a:rPr>
              <a:t>อ้างอิง: LINE Developers — Opening a LIFF app ระบุ LIFF URL รองรับ chat_message.write แต่ Endpoint URL ไม่รองรับใน transition case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 ให้ทีม Dev / Cloud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รายการงานแบบไม่เปิด scope เกิน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965960" cy="512064"/>
          </a:xfrm>
          <a:prstGeom prst="chevron">
            <a:avLst/>
          </a:prstGeom>
          <a:solidFill>
            <a:srgbClr val="2638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3807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1. Audit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3063240" y="1234440"/>
            <a:ext cx="79552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1362456"/>
            <a:ext cx="7626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หา LIFF init เดิม, LIFF ID, checkout success point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65960" cy="512064"/>
          </a:xfrm>
          <a:prstGeom prst="chevron">
            <a:avLst/>
          </a:prstGeom>
          <a:solidFill>
            <a:srgbClr val="2638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494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2. Config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063240" y="2103120"/>
            <a:ext cx="79552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231136"/>
            <a:ext cx="7626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ยืนยัน Rich Menu ใช้ LIFF URL และ scope chat_message.write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22960" y="2971800"/>
            <a:ext cx="1965960" cy="512064"/>
          </a:xfrm>
          <a:prstGeom prst="chevron">
            <a:avLst/>
          </a:prstGeom>
          <a:solidFill>
            <a:srgbClr val="C778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1181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3. Hook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063240" y="2971800"/>
            <a:ext cx="79552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3099816"/>
            <a:ext cx="7626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หลัง order API success เรียก sendOrderSummaryToLine(order)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22960" y="3840480"/>
            <a:ext cx="1965960" cy="512064"/>
          </a:xfrm>
          <a:prstGeom prst="chevron">
            <a:avLst/>
          </a:prstGeom>
          <a:solidFill>
            <a:srgbClr val="5A3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9867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4. Fallback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063240" y="3840480"/>
            <a:ext cx="79552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3968496"/>
            <a:ext cx="7626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ถ้าเปิดนอก LINE ให้ข้าม sendMessages แต่ order ต้องสำเร็จ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1965960" cy="512064"/>
          </a:xfrm>
          <a:prstGeom prst="chevron">
            <a:avLst/>
          </a:prstGeom>
          <a:solidFill>
            <a:srgbClr val="5A39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8554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5. Test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063240" y="4709160"/>
            <a:ext cx="79552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4837176"/>
            <a:ext cx="7626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B2825"/>
                </a:solidFill>
              </a:rPr>
              <a:t>ทดสอบจาก LINE จริง + direct website + กรณีส่งข้อความ fail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68680" y="5715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82B"/>
                </a:solidFill>
              </a:rPr>
              <a:t>ตำแหน่งน่าตรวจในโปรเจกต์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57332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56B62"/>
                </a:solidFill>
              </a:rPr>
              <a:t>components/CartDrawer.js  •  pages/api/orders.js  •  LIFF helper เดิม  •  payment/slip success handler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กรณีผิดพลาดที่ต้องรับมือ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เพื่อไม่ให้ออเดอร์หายหรือเด้งซ้ำ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920"/>
                </a:solidFill>
              </a:rPr>
              <a:t>Order API fail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039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26382B"/>
                </a:solidFill>
              </a:rPr>
              <a:t>ไม่ต้องส่ง LINE message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1033272" y="23500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B62"/>
                </a:solidFill>
              </a:rPr>
              <a:t>แสดง error เดิมของระบบ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920"/>
                </a:solidFill>
              </a:rPr>
              <a:t>sendMessages fail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039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26382B"/>
                </a:solidFill>
              </a:rPr>
              <a:t>Order ต้องยังอยู่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6565392" y="23500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B62"/>
                </a:solidFill>
              </a:rPr>
              <a:t>แสดงเลขออเดอร์ + แจ้งว่าส่งแชทไม่ได้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33272" y="3474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920"/>
                </a:solidFill>
              </a:rPr>
              <a:t>เปิดนอก 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38679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26382B"/>
                </a:solidFill>
              </a:rPr>
              <a:t>ข้าม sendMessages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1033272" y="4178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B62"/>
                </a:solidFill>
              </a:rPr>
              <a:t>เว็บยังสั่งอาหารได้ตามเดิม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3474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920"/>
                </a:solidFill>
              </a:rPr>
              <a:t>กดยืนยันซ้ำ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38679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26382B"/>
                </a:solidFill>
              </a:rPr>
              <a:t>ห้ามสร้าง order/message ซ้ำ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6565392" y="4178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B62"/>
                </a:solidFill>
              </a:rPr>
              <a:t>disable ปุ่มระหว่าง submit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57150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82B"/>
                </a:solidFill>
              </a:rPr>
              <a:t>หลักคิด: “Order success” ต้องขึ้นกับฐานข้อมูล ไม่ใช่ขึ้นกับ LINE message ส่งสำเร็จหรือไม่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Acceptance Checklist: ทำเสร็จแล้วต้องพิสูจน์อะไรได้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ใช้เป็น checklist ก่อนส่งงานหรือก่อน deploy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984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30759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Rich Menu เปิด LIFF URL ไม่ใช่เว็บ URL ตรง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2984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30759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เปิดจาก LINE แล้ว LIFF init สำเร็จ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868680" y="22219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860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29514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scope chat_message.write พร้อมใช้งาน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263640" y="22219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2860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29514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Order สร้างสำเร็จหลังชำระเงิน/ส่งสลิป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868680" y="32095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2735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C755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2826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ข้อความ order summary เด้งในแชท OA ร้าน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6263640" y="32095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735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83C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28269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เปิดเว็บตรงนอก LINE แล้วยังสั่งได้ตามเดิม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868680" y="41970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6110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83C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427024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sendMessages fail แล้ว order ไม่หาย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6263640" y="41970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3E7"/>
          </a:solidFill>
          <a:ln w="12700">
            <a:solidFill>
              <a:srgbClr val="C778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26110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83C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27024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B2825"/>
                </a:solidFill>
              </a:rPr>
              <a:t>ไม่มีการแก้ delivery-distance logic เดิม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960120" y="5532120"/>
            <a:ext cx="10195560" cy="566928"/>
          </a:xfrm>
          <a:prstGeom prst="roundRect">
            <a:avLst>
              <a:gd name="adj" fmla="val 19355"/>
            </a:avLst>
          </a:prstGeom>
          <a:solidFill>
            <a:srgbClr val="E9F8E8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5660136"/>
            <a:ext cx="98663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6382B"/>
                </a:solidFill>
              </a:rPr>
              <a:t>Definition of Done: ลูกค้าเปิดจาก OA → สั่งและส่งสลิป → Order ถูกบันทึก → ข้อความออเดอร์แสดงในแชท OA โดยไม่กระทบ flow เดิม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สั้นสำหรับสั่ง Cloud 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ใช้ต่อได้ทันทีถ้าต้องการให้ทำเฉพาะงานนี้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68680" y="1188720"/>
            <a:ext cx="1046988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B9A89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1600200"/>
            <a:ext cx="973836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Work only in love-pier-main. Do not modify delivery distance, Google Maps, radius, payment, admin, or order architecture.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Audit the existing LIFF flow in /delivery and checkout. Find the current LIFF init, LIFF ID source, and the exact order/payment/slip success point.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Ensure the LINE OA Rich Menu opens the LIFF URL, not the website endpoint URL. Confirm chat_message.write scope is required.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After the existing order creation succeeds, call liff.sendMessages() once to send a plain text order summary into the current OA chat. Use the real order number and total from the successful order result.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825"/>
                </a:solidFill>
              </a:rPr>
              <a:t>If opened outside LINE or sendMessages fails, keep the order successful and show the order number. Do not create duplicate orders or duplicate messages.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5715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382B"/>
                </a:solidFill>
              </a:rPr>
              <a:t>Copy / paste ได้เลย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8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แหล่งอ้างอิงหลัก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6B62"/>
                </a:solidFill>
              </a:rPr>
              <a:t>ใช้สำหรับทีม dev ตรวจเพิ่มใน LINE Developers Console และเอกสาร API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175"/>
                </a:solidFill>
              </a:rPr>
              <a:t>Love Pier Cafe • LINE OA + LIFF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02412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  <a:effectLst>
            <a:outerShdw sx="100000" sy="100000" kx="0" ky="0" algn="bl" rotWithShape="0" blurRad="12700" dist="50800" dir="2700000">
              <a:srgbClr val="C4B7A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517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82B"/>
                </a:solidFill>
              </a:rPr>
              <a:t>LINE Developers — LIFF 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151790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56B62"/>
                </a:solidFill>
              </a:rPr>
              <a:t>LIFF คือ platform สำหรับ web app ที่ใช้ข้อมูลจาก LINE Platform และส่งข้อความในนาม user ได้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102412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78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82B"/>
                </a:solidFill>
              </a:rPr>
              <a:t>LINE Developers — Opening a LIFF app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0" y="24780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56B62"/>
                </a:solidFill>
              </a:rPr>
              <a:t>อธิบายความต่าง LIFF URL vs Endpoint URL และผลต่อ chat_message.write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68680" y="3246120"/>
            <a:ext cx="102412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438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82B"/>
                </a:solidFill>
              </a:rPr>
              <a:t>LINE Developers — LIFF API reference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343814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56B62"/>
                </a:solidFill>
              </a:rPr>
              <a:t>อ้างอิง liff.init(), liff.isInClient(), liff.sendMessages(), API availability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68680" y="4206240"/>
            <a:ext cx="102412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398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82B"/>
                </a:solidFill>
              </a:rPr>
              <a:t>LINE Developers — Messaging API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54880" y="439826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756B62"/>
                </a:solidFill>
              </a:rPr>
              <a:t>ใช้แยกจาก sendMessages สำหรับ server-side notification ของร้าน/admin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920"/>
                </a:solidFill>
              </a:rPr>
              <a:t>หมายเหตุ: ในสไลด์นี้ไม่ได้ใส่ token, secret หรือข้อมูล production ใด ๆ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6A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Love Pier Cafe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Love Pier Cafe — LINE OA + LIFF Order Flow</dc:title>
  <dc:subject>Love Pier Cafe LINE LIFF sendMessages Integration</dc:subject>
  <dc:creator>OpenAI</dc:creator>
  <cp:lastModifiedBy>OpenAI</cp:lastModifiedBy>
  <cp:revision>1</cp:revision>
  <dcterms:created xsi:type="dcterms:W3CDTF">2026-07-07T08:59:13Z</dcterms:created>
  <dcterms:modified xsi:type="dcterms:W3CDTF">2026-07-07T08:59:13Z</dcterms:modified>
</cp:coreProperties>
</file>